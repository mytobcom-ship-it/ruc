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11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538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RUC 시스템 — 테이블 데이터 흐름도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28600" y="475488"/>
            <a:ext cx="8732520" cy="530352"/>
          </a:xfrm>
          <a:prstGeom prst="rect">
            <a:avLst/>
          </a:prstGeom>
          <a:solidFill>
            <a:srgbClr val="E6F4F0"/>
          </a:solidFill>
          <a:ln w="5080">
            <a:solidFill>
              <a:srgbClr val="BBBB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1206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</a:rPr>
              <a:t>① 모바일 APP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8732520" cy="530352"/>
          </a:xfrm>
          <a:prstGeom prst="rect">
            <a:avLst/>
          </a:prstGeom>
          <a:solidFill>
            <a:srgbClr val="E8EEF8"/>
          </a:solidFill>
          <a:ln w="508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881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</a:rPr>
              <a:t>② 수집서버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8600" y="1627632"/>
            <a:ext cx="8732520" cy="1664208"/>
          </a:xfrm>
          <a:prstGeom prst="rect">
            <a:avLst/>
          </a:prstGeom>
          <a:solidFill>
            <a:srgbClr val="ECEEF6"/>
          </a:solidFill>
          <a:ln w="508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6642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</a:rPr>
              <a:t>③ 위치검증서버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8600" y="3337560"/>
            <a:ext cx="8732520" cy="1737360"/>
          </a:xfrm>
          <a:prstGeom prst="rect">
            <a:avLst/>
          </a:prstGeom>
          <a:solidFill>
            <a:srgbClr val="EEEAF8"/>
          </a:solidFill>
          <a:ln w="508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33741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</a:rPr>
              <a:t>④ 과금서버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54480" y="548640"/>
            <a:ext cx="5760720" cy="384048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 w="6350">
            <a:solidFill>
              <a:srgbClr val="0F6E56"/>
            </a:solidFill>
            <a:prstDash val="solid"/>
          </a:ln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548640"/>
            <a:ext cx="5760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 /api/location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</a:rPr>
              <a:t>clientkey · lat/lon · speed · battery · gps_accuracy · trip_event · drive_status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932688"/>
            <a:ext cx="0" cy="182880"/>
          </a:xfrm>
          <a:prstGeom prst="line">
            <a:avLst/>
          </a:prstGeom>
          <a:noFill/>
          <a:ln w="17780">
            <a:solidFill>
              <a:srgbClr val="0F6E5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26280" y="9784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</a:rPr>
              <a:t>HTTPS POST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554480" y="1124712"/>
            <a:ext cx="5760720" cy="384048"/>
          </a:xfrm>
          <a:prstGeom prst="roundRect">
            <a:avLst>
              <a:gd name="adj" fmla="val 16667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1124712"/>
            <a:ext cx="5760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RAW_GPS_LOG  INSERT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</a:rPr>
              <a:t>MATCH_STATUS = PENDING  ·  TRIP_ID = NULL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1508760"/>
            <a:ext cx="0" cy="210312"/>
          </a:xfrm>
          <a:prstGeom prst="line">
            <a:avLst/>
          </a:prstGeom>
          <a:noFill/>
          <a:ln w="17780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26280" y="15544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</a:rPr>
              <a:t>스케줄링 READ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417320" y="1764792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17320" y="1764792"/>
            <a:ext cx="27432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맵매칭 + 위반탐지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</a:rPr>
              <a:t>GPS → 노드 변환 / 위반 판단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2148840"/>
            <a:ext cx="0" cy="18288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7472" y="237744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" y="2377440"/>
            <a:ext cx="85039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CHARGE_TARGET  INSERT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</a:rPr>
              <a:t>1행 = 1과금항목  ·  CHARGE_STATUS = PENDING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AABBDD"/>
                </a:solidFill>
              </a:rPr>
              <a:t>예)  _0001_001 NODE_STEP(NODE)  /  _0001_002 NODE_STEP(LINK)  /  _0001_003 PARKING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309067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E5FA3"/>
                </a:solidFill>
              </a:rPr>
              <a:t>처리 완료 → RAW_GPS_LOG.MATCH_STATUS = MATCHED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4840" y="3035808"/>
            <a:ext cx="0" cy="374904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26280" y="3200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</a:rPr>
              <a:t>스케줄링 READ (PENDING)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60320" y="3456432"/>
            <a:ext cx="3840480" cy="365760"/>
          </a:xfrm>
          <a:prstGeom prst="roundRect">
            <a:avLst>
              <a:gd name="adj" fmla="val 17500"/>
            </a:avLst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0" y="3456432"/>
            <a:ext cx="3840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회원관리 테이블 조인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</a:rPr>
              <a:t>DEVICE_KEY → VEHICLE_TYPE 확인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3822192"/>
            <a:ext cx="0" cy="18288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17320" y="4069080"/>
            <a:ext cx="6080760" cy="9144"/>
          </a:xfrm>
          <a:prstGeom prst="line">
            <a:avLst/>
          </a:prstGeom>
          <a:noFill/>
          <a:ln w="1016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4069080"/>
            <a:ext cx="0" cy="182880"/>
          </a:xfrm>
          <a:prstGeom prst="line">
            <a:avLst/>
          </a:prstGeom>
          <a:noFill/>
          <a:ln w="17780">
            <a:solidFill>
              <a:srgbClr val="534AB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89320" y="4069080"/>
            <a:ext cx="0" cy="182880"/>
          </a:xfrm>
          <a:prstGeom prst="line">
            <a:avLst/>
          </a:prstGeom>
          <a:noFill/>
          <a:ln w="17780">
            <a:solidFill>
              <a:srgbClr val="993C1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7472" y="4297680"/>
            <a:ext cx="3474720" cy="475488"/>
          </a:xfrm>
          <a:prstGeom prst="roundRect">
            <a:avLst>
              <a:gd name="adj" fmla="val 13462"/>
            </a:avLst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7472" y="4297680"/>
            <a:ext cx="3474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TOLL_CHARGE  INSERT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</a:rPr>
              <a:t>NODE_STEP / OPEN_ROAD / CLOSED_ROAD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60520" y="4297680"/>
            <a:ext cx="4709160" cy="475488"/>
          </a:xfrm>
          <a:prstGeom prst="roundRect">
            <a:avLst>
              <a:gd name="adj" fmla="val 13462"/>
            </a:avLst>
          </a:prstGeom>
          <a:solidFill>
            <a:srgbClr val="993C1D"/>
          </a:solidFill>
          <a:ln w="6350">
            <a:solidFill>
              <a:srgbClr val="993C1D"/>
            </a:solidFill>
            <a:prstDash val="solid"/>
          </a:ln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60520" y="4297680"/>
            <a:ext cx="4709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VIOLATION_CHARGE  INSERT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</a:rPr>
              <a:t>SPEED / PARKING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" y="482803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34AB7"/>
                </a:solidFill>
              </a:rPr>
              <a:t>CHARGE_TARGET.CHARGE_STATUS = CHARGED  업데이트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CHARGE_TARGET 구조 &amp; 4대 과금 케이스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■ CHARGE_TARGET 핵심 컬럼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23444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컬럼명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508760" y="749808"/>
            <a:ext cx="105156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74980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타입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749808"/>
            <a:ext cx="192024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7498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설명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024128"/>
            <a:ext cx="12344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0241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TRIP_ID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1508760" y="1024128"/>
            <a:ext cx="105156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45336" y="10241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VARCHAR(60)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560320" y="1024128"/>
            <a:ext cx="19202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10241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PK. {DEVICE_KEY}_{YYYYMMDD}_{운행순번4자리}_{항목순번3자리}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274320" y="1239926"/>
            <a:ext cx="12344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23992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DEVICE_KEY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1508760" y="1239926"/>
            <a:ext cx="105156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45336" y="123992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VARCHAR(36)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2560320" y="1239926"/>
            <a:ext cx="19202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96896" y="123992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clientkey (회원 조인 키)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74320" y="1455725"/>
            <a:ext cx="12344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455725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CHARGE_TYPE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508760" y="1455725"/>
            <a:ext cx="105156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45336" y="1455725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VARCHAR(20)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2560320" y="1455725"/>
            <a:ext cx="19202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6896" y="1455725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NODE_STEP / OPEN_ROAD / CLOSED_ROAD / SPEED / PARKING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274320" y="1671523"/>
            <a:ext cx="12344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1671523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CHARGE_UNIT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1508760" y="1671523"/>
            <a:ext cx="105156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45336" y="1671523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VARCHAR(10)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2560320" y="1671523"/>
            <a:ext cx="19202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96896" y="1671523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NODE: 노드 단위 과금 / LINK: 링크 단위 과금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274320" y="1887322"/>
            <a:ext cx="12344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188732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LINK_ID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1508760" y="1887322"/>
            <a:ext cx="105156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45336" y="188732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VARCHAR(20)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2560320" y="1887322"/>
            <a:ext cx="19202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96896" y="188732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링크 ID (CHARGE_UNIT=LINK일 때). NODE면 NULL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74320" y="2103120"/>
            <a:ext cx="12344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21031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FROM_ID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1508760" y="2103120"/>
            <a:ext cx="105156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45336" y="21031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VARCHAR(20)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2560320" y="2103120"/>
            <a:ext cx="19202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96896" y="21031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출발 노드/링크 시작 ID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274320" y="2318918"/>
            <a:ext cx="12344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31891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TO_ID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1508760" y="2318918"/>
            <a:ext cx="105156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45336" y="231891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VARCHAR(20)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2560320" y="2318918"/>
            <a:ext cx="19202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96896" y="231891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도착 노드/링크 종료 ID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274320" y="2534717"/>
            <a:ext cx="12344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" y="2534717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DIST_M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508760" y="2534717"/>
            <a:ext cx="105156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45336" y="2534717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INTEGER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2560320" y="2534717"/>
            <a:ext cx="19202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96896" y="2534717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구간 거리 (미터)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274320" y="2750515"/>
            <a:ext cx="12344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" y="2750515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SPEED_KMH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1508760" y="2750515"/>
            <a:ext cx="105156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45336" y="2750515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NUMERIC(6,1)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2560320" y="2750515"/>
            <a:ext cx="19202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96896" y="2750515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구간 실측/평균 속도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274320" y="2966314"/>
            <a:ext cx="12344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" y="296631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SPEED_LIMIT_KMH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1508760" y="2966314"/>
            <a:ext cx="105156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45336" y="296631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NUMERIC(6,1)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2560320" y="2966314"/>
            <a:ext cx="19202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96896" y="296631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제한 속도 (구간단속 기준)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274320" y="3182112"/>
            <a:ext cx="12344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" y="31821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STAY_SECONDS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1508760" y="3182112"/>
            <a:ext cx="105156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545336" y="31821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INTEGER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60320" y="3182112"/>
            <a:ext cx="19202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96896" y="31821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체류 시간 초 (주정차 위반)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274320" y="3397910"/>
            <a:ext cx="12344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0896" y="339791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ZONE_ID / ZONE_NAME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1508760" y="3397910"/>
            <a:ext cx="105156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45336" y="339791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2560320" y="3397910"/>
            <a:ext cx="19202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96896" y="339791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관련 구역 ID·명 (역정규화)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274320" y="3613709"/>
            <a:ext cx="12344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" y="3613709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OCCUR_DT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1508760" y="3613709"/>
            <a:ext cx="105156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545336" y="3613709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TIMESTAMP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2560320" y="3613709"/>
            <a:ext cx="19202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96896" y="3613709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과금/위반 발생 시각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274320" y="3829507"/>
            <a:ext cx="12344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3829507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TRIP_START_DT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1508760" y="3829507"/>
            <a:ext cx="105156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545336" y="3829507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TIMESTAMP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2560320" y="3829507"/>
            <a:ext cx="19202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96896" y="3829507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운행 시작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274320" y="4045306"/>
            <a:ext cx="12344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0896" y="404530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TRIP_END_DT</a:t>
            </a:r>
            <a:endParaRPr lang="en-US" sz="680" dirty="0"/>
          </a:p>
        </p:txBody>
      </p:sp>
      <p:sp>
        <p:nvSpPr>
          <p:cNvPr id="96" name="Shape 94"/>
          <p:cNvSpPr/>
          <p:nvPr/>
        </p:nvSpPr>
        <p:spPr>
          <a:xfrm>
            <a:off x="1508760" y="4045306"/>
            <a:ext cx="105156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545336" y="404530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TIMESTAMP</a:t>
            </a:r>
            <a:endParaRPr lang="en-US" sz="680" dirty="0"/>
          </a:p>
        </p:txBody>
      </p:sp>
      <p:sp>
        <p:nvSpPr>
          <p:cNvPr id="98" name="Shape 96"/>
          <p:cNvSpPr/>
          <p:nvPr/>
        </p:nvSpPr>
        <p:spPr>
          <a:xfrm>
            <a:off x="2560320" y="4045306"/>
            <a:ext cx="192024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596896" y="404530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운행 종료</a:t>
            </a:r>
            <a:endParaRPr lang="en-US" sz="680" dirty="0"/>
          </a:p>
        </p:txBody>
      </p:sp>
      <p:sp>
        <p:nvSpPr>
          <p:cNvPr id="100" name="Shape 98"/>
          <p:cNvSpPr/>
          <p:nvPr/>
        </p:nvSpPr>
        <p:spPr>
          <a:xfrm>
            <a:off x="274320" y="4261104"/>
            <a:ext cx="12344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10896" y="42611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CHARGE_STATUS</a:t>
            </a:r>
            <a:endParaRPr lang="en-US" sz="680" dirty="0"/>
          </a:p>
        </p:txBody>
      </p:sp>
      <p:sp>
        <p:nvSpPr>
          <p:cNvPr id="102" name="Shape 100"/>
          <p:cNvSpPr/>
          <p:nvPr/>
        </p:nvSpPr>
        <p:spPr>
          <a:xfrm>
            <a:off x="1508760" y="4261104"/>
            <a:ext cx="105156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545336" y="4261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VARCHAR(20)</a:t>
            </a:r>
            <a:endParaRPr lang="en-US" sz="680" dirty="0"/>
          </a:p>
        </p:txBody>
      </p:sp>
      <p:sp>
        <p:nvSpPr>
          <p:cNvPr id="104" name="Shape 102"/>
          <p:cNvSpPr/>
          <p:nvPr/>
        </p:nvSpPr>
        <p:spPr>
          <a:xfrm>
            <a:off x="2560320" y="4261104"/>
            <a:ext cx="1920240" cy="201168"/>
          </a:xfrm>
          <a:prstGeom prst="rect">
            <a:avLst/>
          </a:prstGeom>
          <a:solidFill>
            <a:srgbClr val="F0F4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96896" y="426110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55555"/>
                </a:solidFill>
              </a:rPr>
              <a:t>PENDING→PROCESSING→CHARGED/SKIP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4663440" y="47548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■ CHARGE_TYPE 별 처리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4663440" y="749808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663440" y="7498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NODE_STEP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144768" y="7498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일반도로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4663440" y="111556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settings.ini 요율 직접 계산 → TOLL_CHARGE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4663440" y="1499616"/>
            <a:ext cx="4206240" cy="9144"/>
          </a:xfrm>
          <a:prstGeom prst="line">
            <a:avLst/>
          </a:prstGeom>
          <a:noFill/>
          <a:ln w="3810">
            <a:solidFill>
              <a:srgbClr val="BBBBB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63440" y="155448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63440" y="1554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OPEN_ROAD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144768" y="1554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유료도로(개방식)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4663440" y="19202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settings.ini 요율 직접 계산 → TOLL_CHARGE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4663440" y="2304288"/>
            <a:ext cx="4206240" cy="9144"/>
          </a:xfrm>
          <a:prstGeom prst="line">
            <a:avLst/>
          </a:prstGeom>
          <a:noFill/>
          <a:ln w="3810">
            <a:solidFill>
              <a:srgbClr val="BBBBB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2359152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0A5275"/>
          </a:solidFill>
          <a:ln w="12700">
            <a:solidFill>
              <a:srgbClr val="0A527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663440" y="23591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CLOSED_ROAD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6144768" y="23591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유료도로(폐쇄식)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4663440" y="27249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DIST_M × settings.ini 거리요율 → TOLL_CHARGE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663440" y="3108960"/>
            <a:ext cx="4206240" cy="9144"/>
          </a:xfrm>
          <a:prstGeom prst="line">
            <a:avLst/>
          </a:prstGeom>
          <a:noFill/>
          <a:ln w="3810">
            <a:solidFill>
              <a:srgbClr val="BBBBB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3163824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663440" y="31638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SPEED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144768" y="31638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구간단속 위반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4663440" y="352958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settings.ini 범칙금 기준 직접 계산 → VIOLATION_CHARGE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4663440" y="3913632"/>
            <a:ext cx="4206240" cy="9144"/>
          </a:xfrm>
          <a:prstGeom prst="line">
            <a:avLst/>
          </a:prstGeom>
          <a:noFill/>
          <a:ln w="3810">
            <a:solidFill>
              <a:srgbClr val="BBBBB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63440" y="3968496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663440" y="39684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PARKING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6144768" y="39684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주정차 위반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4663440" y="43342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settings.ini 범칙금 기준 직접 계산 → VIOLATION_CHARGE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274320" y="4773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E2761"/>
                </a:solidFill>
              </a:rPr>
              <a:t>※ 과금서버는 CHARGE_TARGET 1개 테이블만 바라보고 CHARGE_TYPE에 따라 분기 처리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518</Words>
  <Application>Microsoft Office PowerPoint</Application>
  <PresentationFormat>화면 슬라이드 쇼(16:9)</PresentationFormat>
  <Paragraphs>97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hermes1727@naver.com</cp:lastModifiedBy>
  <cp:revision>4</cp:revision>
  <dcterms:created xsi:type="dcterms:W3CDTF">2026-06-25T05:38:11Z</dcterms:created>
  <dcterms:modified xsi:type="dcterms:W3CDTF">2026-06-25T07:14:51Z</dcterms:modified>
</cp:coreProperties>
</file>